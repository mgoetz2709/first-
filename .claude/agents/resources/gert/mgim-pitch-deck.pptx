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6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40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von vier Ihrer Wissensarbeiter nutzen heute bereits KI-Tools - taeglich. Das ist keine Prognose, das ist der Status quo. Nur 22 Prozent nutzen ausschliesslich freigegebene Systeme. 53 Prozent operieren in einer Grauzone.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AI ist messbar, weit verbreitet und erzeugt akute Compliance-Probleme. 98% der Organisationen haben Mitarbeiter mit nicht genehmigten KI-Tools. 223 Datenschutzverstoesse pro Monat. 69% vermuten verbotene Tool-Nutzung. 14 KI-Tools im Einsatz - IT kennt nur 4-5.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Unternehmen zahlen doppelt: Compliance-Risiko (EU AI Act Deadline 2. August 2026, Bussgelder bis 35 Mio. Euro) UND Opportunitaetskosten (6,4h/Woche ungenutzt, 812.500 Euro jaehrlich bei 50 Mitarbeitern).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typische Fallen: 1) Pilot Purgatory - nur 52% der Executives berichten KI-Agenten in Produktion. 2) Shadow AI - Verbotsstrategien scheitern. 3) Tool ohne Betrieb - 67% nutzen KI-Tools, aber nur 18% haben Richtlinien.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Unterschied liegt in der strukturierten Operationalisierung: Governance plus Enablement plus Skalierung. Das ist der Wendepunkt von Risiko zu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Messbare Ergebnisse: 6,4 Stunden Zeitersparnis pro Woche. 171% durchschnittlicher ROI. 4-9 Monate Payback. Klarna sparte 60 Mio. Dollar, Intercom erreicht 51% Automatisierung.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Phasen: Phase 1 Assessment (2-4 Wochen), Phase 2 Governance &amp; Enablement (4-8 Wochen), Phase 3 Skalierung (laufend). Strukturiert, compliant, wertschoepfend.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Jede Woche ohne AI-Effizienz kostet Wettbewerbsfaehigkeit. Der zentrale Block 'Der Markt wartet nicht' ist das Herzstueck. Die Timeline zeigt den regulatorischen Rahmen, aber der operative Handlungsdruck steht im Vordergrund. Ueberleitung: 'Wir haben nicht die Wahl, ob wir AI einfuehren - nur wann. Und spaeter ist die teuerste Option.'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KI-Readiness-Assessment in 2 Wochen: Shadow AI-Analyse, Use Case-Priorisierung, Compliance-Gap-Analyse, Roadmap. Deliverable: Assessment-Report, Executive Summary, Roadmap. Lassen Sie uns in einem 30-minuetigen Gespraech klaeren, ob das Assessment fuer Sie passt.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</a:t>
            </a:r>
            <a:endParaRPr lang="en-US" sz="14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Ihrer Mitarbeiter nutzen KI taeglich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3A9A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oder ohne Ihre Erlaubnis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4572000"/>
            <a:ext cx="201168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286000" y="4572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C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Offizielle Tools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4572000"/>
            <a:ext cx="502920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480560" y="4572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C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C3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 | markus@markusgoetz.com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AI ist kein Zukunftsrisiko - es ist bereits 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37160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Organisationen haben Mitarbeiter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 nicht genehmigten KI-Tools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Talent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137160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766560" y="1920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Datenschutzverstoesse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Monat im Durchschnitt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Netskope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37160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09728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vermuten oder haben Beweise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fuer verbotene Tool-Nutzung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715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402336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137160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766560" y="4206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76656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KI-Tools im Einsatz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kennt nur 4-5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5715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Kosten des Nichtstuns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COMPLIANCE-RISIKO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AI Act Deadline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August 2026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Bussgelder bis zu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Mio. Euro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oder 7% des Jahresumsatzes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der Unternehmen werden bis 2030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Compliance-Vorfaelle durch Shadow AI erleben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4389120"/>
          </a:xfrm>
          <a:prstGeom prst="rect">
            <a:avLst/>
          </a:prstGeom>
          <a:solidFill>
            <a:srgbClr val="EBF5FB"/>
          </a:solidFill>
          <a:ln w="25400">
            <a:solidFill>
              <a:srgbClr val="3A9AC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486400" cy="548640"/>
          </a:xfrm>
          <a:prstGeom prst="rect">
            <a:avLst/>
          </a:prstGeom>
          <a:solidFill>
            <a:srgbClr val="3A9AC9"/>
          </a:solidFill>
          <a:ln w="12700">
            <a:solidFill>
              <a:srgbClr val="3A9AC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OPPORTUNITAETSKOSTEN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Ungenutzte Zeitersparnis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606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9A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6,4 Std./Woche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Wissensarbeiter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 50 Mitarbeitern: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A9A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812.500 Euro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67512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jaehrlich an verpassten Effizienzgewinnen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Wettbewerber bauen kumulativen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Vorsprung auf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Drei typische Fallen, in die Unternehmen laufen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 PURGATORY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Endlose Proof-of-Concepts,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 nie in Produktion gehen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 52%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Executives berichten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KI-Agenten in Produktion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4747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3434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Verbotsstrategien scheitern 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Nutzung geht in den Untergrund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26280" y="38404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wuerden persoenliche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KI-Accounts weiter nutzen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474720" cy="4572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04672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OHNE BETRIEB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2194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 ohne Governance,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Schulung oder Prozesse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3108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D6E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67% vs 18%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229600" y="38404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nutzen KI-Tools, aber nur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haben Richtlinien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geht auch anders. Strukturierte KI-Operationalisierung ist der Ausweg.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Risks of Inappropriate AI Use</a:t>
            </a:r>
            <a:endParaRPr lang="en-US" sz="3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39173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88C0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AI badly may be worse than not using it at all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3535680" cy="2072640"/>
          </a:xfrm>
          <a:prstGeom prst="rect">
            <a:avLst/>
          </a:prstGeom>
          <a:solidFill>
            <a:srgbClr val="2E3440"/>
          </a:solidFill>
          <a:ln w="12700">
            <a:solidFill>
              <a:srgbClr val="BF616A"/>
            </a:solidFill>
            <a:prstDash val="solid"/>
          </a:ln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2480" y="20726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Hallucinations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2480" y="26822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BF61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57%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2480" y="32918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 AI errors as top operational risk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89120" y="1950720"/>
            <a:ext cx="3535680" cy="2072640"/>
          </a:xfrm>
          <a:prstGeom prst="rect">
            <a:avLst/>
          </a:prstGeom>
          <a:solidFill>
            <a:srgbClr val="2E3440"/>
          </a:solidFill>
          <a:ln w="12700">
            <a:solidFill>
              <a:srgbClr val="EBCB8B"/>
            </a:solidFill>
            <a:prstDash val="solid"/>
          </a:ln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20726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Erosion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6822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EBCB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HBR 2026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reliance erodes judgment &amp; capabilities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68640" y="1950720"/>
            <a:ext cx="3535680" cy="2072640"/>
          </a:xfrm>
          <a:prstGeom prst="rect">
            <a:avLst/>
          </a:prstGeom>
          <a:solidFill>
            <a:srgbClr val="2E3440"/>
          </a:solidFill>
          <a:ln w="12700">
            <a:solidFill>
              <a:srgbClr val="A3BE8C"/>
            </a:solidFill>
            <a:prstDash val="solid"/>
          </a:ln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51520" y="20726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Failed Implementations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51520" y="26822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A3BE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33%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51520" y="32918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AI beyond pilots; 30% abandoned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4267200"/>
            <a:ext cx="3535680" cy="2072640"/>
          </a:xfrm>
          <a:prstGeom prst="rect">
            <a:avLst/>
          </a:prstGeom>
          <a:solidFill>
            <a:srgbClr val="2E3440"/>
          </a:solidFill>
          <a:ln w="12700">
            <a:solidFill>
              <a:srgbClr val="81A1C1"/>
            </a:solidFill>
            <a:prstDash val="solid"/>
          </a:ln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2480" y="43891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Unexpected Costs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49987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81A1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in 3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480" y="56083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 firms report higher-than-expected costs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0" y="4267200"/>
            <a:ext cx="3535680" cy="2072640"/>
          </a:xfrm>
          <a:prstGeom prst="rect">
            <a:avLst/>
          </a:prstGeom>
          <a:solidFill>
            <a:srgbClr val="2E3440"/>
          </a:solidFill>
          <a:ln w="12700">
            <a:solidFill>
              <a:srgbClr val="B48EAD"/>
            </a:solidFill>
            <a:prstDash val="solid"/>
          </a:ln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0" y="43891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Privacy Breaches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0" y="49987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B48E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Risk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0" y="56083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exposing data through memorization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68640" y="4267200"/>
            <a:ext cx="3535680" cy="2072640"/>
          </a:xfrm>
          <a:prstGeom prst="rect">
            <a:avLst/>
          </a:prstGeom>
          <a:solidFill>
            <a:srgbClr val="2E3440"/>
          </a:solidFill>
          <a:ln w="12700">
            <a:solidFill>
              <a:srgbClr val="D08770"/>
            </a:solidFill>
            <a:prstDash val="solid"/>
          </a:ln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51520" y="43891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 &amp; Discrimination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51520" y="49987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D087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51520" y="560832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D8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disadvantaging demographics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" y="6292683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Bitkom 2026, HBR/Gartner 2026, ISACA 2026</a:t>
            </a:r>
            <a:endParaRPr lang="en-US" sz="1067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652272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4C56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 | July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 Wendepunkt: Von Risiko zu ROI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393192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VORHER: Wildwuchs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 Shadow AI ueberall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 Compliance-Risiken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 Fragmentierte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 Keine Schulung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 Kein ROI-Tracking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3200400"/>
            <a:ext cx="822960" cy="731520"/>
          </a:xfrm>
          <a:prstGeom prst="rightArrow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675120" y="1554480"/>
            <a:ext cx="5029200" cy="3931920"/>
          </a:xfrm>
          <a:prstGeom prst="rect">
            <a:avLst/>
          </a:prstGeom>
          <a:solidFill>
            <a:srgbClr val="E8F6F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502920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67512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NACHHER: Struktur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Zentrale Governance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AI Literacy-Schulungen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Freigegebene Tools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Dokumentierte Use Cases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Messbarer ROI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 +  Enablement  +  Skalierung  =  Wertschoepfung</a:t>
            </a:r>
            <a:endParaRPr lang="en-US" sz="18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F828D58-C3BE-F2B9-92F2-7EAE79D07F2F}"/>
              </a:ext>
            </a:extLst>
          </p:cNvPr>
          <p:cNvSpPr/>
          <p:nvPr/>
        </p:nvSpPr>
        <p:spPr>
          <a:xfrm>
            <a:off x="6949440" y="4756605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Human in the loop – Der Mitarbeiter </a:t>
            </a:r>
            <a:r>
              <a:rPr lang="en-US" sz="1400" dirty="0" err="1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</a:t>
            </a: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</a:t>
            </a:r>
            <a:r>
              <a:rPr lang="en-US" sz="1400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Beweis: Messbare Ergebnisse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E8F6F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6,4h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Zeitersparnis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Woche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Wissensarbeiter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E8F6F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4340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4340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durchschnittlicher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E8F6F3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046720" y="1737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4-9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04672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den meisten Domaenen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Enterprise-Fallstudien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Klarna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 Mio. gespart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853 Mitarbeiter-Aequivalent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2628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51% Automatisierung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26280" y="5257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 Kundenservice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43891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822960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Legal-Teams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240h Ersparnis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0" y="5257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 Jahr pro Professional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Unser Ansatz: Drei Phasen zur KI-Wirkung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3A9AC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920240" y="1645920"/>
            <a:ext cx="914400" cy="914400"/>
          </a:xfrm>
          <a:prstGeom prst="ellipse">
            <a:avLst/>
          </a:prstGeom>
          <a:solidFill>
            <a:srgbClr val="3A9AC9"/>
          </a:solidFill>
          <a:ln w="12700">
            <a:solidFill>
              <a:srgbClr val="3A9AC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9A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Assessment &amp; Strategie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 Wochen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KI-Readiness-Assessment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Shadow AI-Analyse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Use Case-Priorisierung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Compliance-Gap-Analyse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623560" y="164592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6235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2628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&amp; Enablement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4-8 Wochen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KI-Governance-Framework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Literacy-Schulungen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Tool-Freigabe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983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Pilot-Deployment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146304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326880" y="1645920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3268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22960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Skalierung &amp; Optimierung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Laufend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Roll-out auf weitere Bereiche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ROI-Tracking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2104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Change Management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983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Compliance-Dokumentation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60520" y="3474720"/>
            <a:ext cx="228600" cy="320040"/>
          </a:xfrm>
          <a:prstGeom prst="rightArrow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7863840" y="3474720"/>
            <a:ext cx="228600" cy="320040"/>
          </a:xfrm>
          <a:prstGeom prst="rightArrow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6E7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Warum jetzt? Das Zeitfenster schließt sich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572768"/>
            <a:ext cx="9966960" cy="0"/>
          </a:xfrm>
          <a:prstGeom prst="line">
            <a:avLst/>
          </a:prstGeom>
          <a:noFill/>
          <a:ln w="31750">
            <a:solidFill>
              <a:srgbClr val="A8A9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591056" y="1325880"/>
            <a:ext cx="475488" cy="47548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591056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JETZT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43016" y="1325880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843016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834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August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AI Act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wird anwendbar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94976" y="1325880"/>
            <a:ext cx="475488" cy="475488"/>
          </a:xfrm>
          <a:prstGeom prst="ellipse">
            <a:avLst/>
          </a:prstGeom>
          <a:solidFill>
            <a:srgbClr val="6D6E7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92354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525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KI-Nutzung ist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Branchenstandard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9A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 Markt wartet nicht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02920" y="2852928"/>
            <a:ext cx="45720" cy="1691640"/>
          </a:xfrm>
          <a:prstGeom prst="rect">
            <a:avLst/>
          </a:prstGeom>
          <a:solidFill>
            <a:srgbClr val="3A9A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67512" y="29900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67512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3008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Understaffed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" y="3355848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arbeiten an der Kapazitätsgrenze. Offene Stellen bleiben unbesetzt. AI kann die Lücke schließen — aber nur, wenn sie jetzt eingeführt wird.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85292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8E8E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297680" y="2852928"/>
            <a:ext cx="45720" cy="1691640"/>
          </a:xfrm>
          <a:prstGeom prst="rect">
            <a:avLst/>
          </a:prstGeom>
          <a:solidFill>
            <a:srgbClr val="3A9A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462272" y="29900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462272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6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64608" y="3008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Effizienz-Gap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62272" y="3355848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Wettbewerber mit AI erzielen 20–40% höhere Produktivität pro Mitarbeiter. Jeder Monat ohne AI vergrößert den Rückstand.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4270248"/>
            <a:ext cx="3236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9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Quelle: McKinsey/Accenture, 2024–2025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92440" y="285292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092440" y="2852928"/>
            <a:ext cx="45720" cy="1691640"/>
          </a:xfrm>
          <a:prstGeom prst="rect">
            <a:avLst/>
          </a:prstGeom>
          <a:solidFill>
            <a:srgbClr val="3A9A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8257032" y="29900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8257032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6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59368" y="3008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Headcount-Druck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57032" y="3355848"/>
            <a:ext cx="3236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Kostensenkungsprogramme und Einstellungsstopps zwingen dazu, mit weniger Leuten mehr zu leisten. AI ist operative Notwendigkeit.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709160"/>
            <a:ext cx="5417820" cy="1600200"/>
          </a:xfrm>
          <a:prstGeom prst="roundRect">
            <a:avLst>
              <a:gd name="adj" fmla="val 4571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502920" y="4709160"/>
            <a:ext cx="36576" cy="1600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85800" y="4818888"/>
            <a:ext cx="5052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Regulatorischer Rahmen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" y="5166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" y="5166360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Act ab 02. August 2026 anwendbar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5800" y="5486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" y="5486400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Literacy-Pflicht seit Feb 2025 in Kraft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5800" y="58064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0392" y="5806440"/>
            <a:ext cx="48691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Bußgelder bis 35 Mio. € oder 7% Umsatz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40780" y="4709160"/>
            <a:ext cx="5417820" cy="1600200"/>
          </a:xfrm>
          <a:prstGeom prst="roundRect">
            <a:avLst>
              <a:gd name="adj" fmla="val 4571"/>
            </a:avLst>
          </a:prstGeom>
          <a:solidFill>
            <a:srgbClr val="E8F4F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6240780" y="4709160"/>
            <a:ext cx="36576" cy="1600200"/>
          </a:xfrm>
          <a:prstGeom prst="rect">
            <a:avLst/>
          </a:prstGeom>
          <a:solidFill>
            <a:srgbClr val="3A9AC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6423660" y="4818888"/>
            <a:ext cx="5052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9A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Wettbewerbsdruck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23660" y="51663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88252" y="5166360"/>
            <a:ext cx="4869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 2026 nicht anfängt, ist 2027 im unteren Drittel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23660" y="54406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8252" y="5440680"/>
            <a:ext cx="4869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Produktivitätsvorsprung durch AI wächst kumulativ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23660" y="57150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8252" y="5715000"/>
            <a:ext cx="4869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18 Monaten kein Differenzierungsmerkmal mehr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23660" y="5989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9AC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8252" y="5989320"/>
            <a:ext cx="4869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Understaffed + kein AI = operative Krise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292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9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9087" y="314001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KI-Compliance Schulungen mit Zertifikat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9087" y="1106481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 KI-VO: KI-Literacy ist seit Februar 2025 Pflicht – wir machen Sie compliant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732179"/>
            <a:ext cx="487680" cy="975360"/>
          </a:xfrm>
          <a:prstGeom prst="rect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976019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0D2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58240" y="1732179"/>
            <a:ext cx="6461760" cy="975360"/>
          </a:xfrm>
          <a:prstGeom prst="rect">
            <a:avLst/>
          </a:prstGeom>
          <a:solidFill>
            <a:srgbClr val="1A3D4F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41120" y="1829715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Pflicht zur KI-Kompetenz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41120" y="2195475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4 KI-VO verpflichtet Anbieter &amp; Betreiber, allen Mitarbeitenden ausreichende KI-Literacy sicherzustellen.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829459"/>
            <a:ext cx="487680" cy="975360"/>
          </a:xfrm>
          <a:prstGeom prst="rect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073299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0D2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58240" y="2829459"/>
            <a:ext cx="6461760" cy="975360"/>
          </a:xfrm>
          <a:prstGeom prst="rect">
            <a:avLst/>
          </a:prstGeom>
          <a:solidFill>
            <a:srgbClr val="1A3D4F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41120" y="2926995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Risikoklassen &amp; Verbote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41120" y="3292755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KI-Systeme werden nach Risikoklassen bewertet. Hochrisiko-Systeme erfordern Konformitätsbewertung.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3926739"/>
            <a:ext cx="487680" cy="975360"/>
          </a:xfrm>
          <a:prstGeom prst="rect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4170579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0D2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58240" y="3926739"/>
            <a:ext cx="6461760" cy="975360"/>
          </a:xfrm>
          <a:prstGeom prst="rect">
            <a:avLst/>
          </a:prstGeom>
          <a:solidFill>
            <a:srgbClr val="1A3D4F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1120" y="4024275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AI Officer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1120" y="4390035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Unternehmen sollten einen KI-Beauftragten benennen, der Compliance-Strukturen und Schulungsnachweise koordiniert.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5024019"/>
            <a:ext cx="487680" cy="975360"/>
          </a:xfrm>
          <a:prstGeom prst="rect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5267859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0D2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58240" y="5024019"/>
            <a:ext cx="6461760" cy="975360"/>
          </a:xfrm>
          <a:prstGeom prst="rect">
            <a:avLst/>
          </a:prstGeom>
          <a:solidFill>
            <a:srgbClr val="1A3D4F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41120" y="5121555"/>
            <a:ext cx="609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Sanktionen &amp; Haftung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41120" y="5487315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Verstöße: bis zu 35 Mio. € oder 7% des weltweiten Jahresumsatzes – je nach Art und Schwere.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90560" y="192196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267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COMPLIANCE-FAHRPLAN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34400" y="2470602"/>
            <a:ext cx="36576" cy="3169920"/>
          </a:xfrm>
          <a:prstGeom prst="rect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412480" y="2436096"/>
            <a:ext cx="268224" cy="268224"/>
          </a:xfrm>
          <a:prstGeom prst="ellipse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39200" y="2375136"/>
            <a:ext cx="1463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 2025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39200" y="2618976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KI-Literacy-Pflicht aktiv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12480" y="3070080"/>
            <a:ext cx="268224" cy="26822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39200" y="3009120"/>
            <a:ext cx="1463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F5A6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2025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39200" y="3252960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GPAI-Modell-Pflichten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412480" y="3704064"/>
            <a:ext cx="268224" cy="268224"/>
          </a:xfrm>
          <a:prstGeom prst="ellipse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39200" y="3643104"/>
            <a:ext cx="1463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2026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839200" y="3886944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Hochrisiko-KI vollständig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412480" y="4338048"/>
            <a:ext cx="268224" cy="268224"/>
          </a:xfrm>
          <a:prstGeom prst="ellipse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839200" y="4277088"/>
            <a:ext cx="1463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Laufend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839200" y="4520928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Schulungsnachweise führen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412480" y="4972032"/>
            <a:ext cx="268224" cy="268224"/>
          </a:xfrm>
          <a:prstGeom prst="ellipse">
            <a:avLst/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839200" y="4911072"/>
            <a:ext cx="1463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00B4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Laufend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39200" y="5189418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Officer benennen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90560" y="5213802"/>
            <a:ext cx="3657600" cy="792480"/>
          </a:xfrm>
          <a:prstGeom prst="roundRect">
            <a:avLst>
              <a:gd name="adj" fmla="val 15385"/>
            </a:avLst>
          </a:prstGeom>
          <a:solidFill>
            <a:srgbClr val="00B4A0"/>
          </a:solidFill>
          <a:ln/>
        </p:spPr>
        <p:txBody>
          <a:bodyPr/>
          <a:lstStyle/>
          <a:p>
            <a:pPr defTabSz="1219170"/>
            <a:endParaRPr lang="de-DE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90560" y="5274762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kern="0" spc="267" dirty="0">
                <a:solidFill>
                  <a:srgbClr val="0D2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ZERTIFIKAT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90560" y="557956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0D2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Teilnahmenachweis für jeden Mitarbeiter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09600" y="6353643"/>
            <a:ext cx="9753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6B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Quelle: EU AI Act (Reg. 2024/1689) · Bundesnetzagentur · compliancex.de  |  MGIM – Markus Goetz Interim Management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363200" y="6353643"/>
            <a:ext cx="1584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6B8A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Stand: Juli 2026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Naechster Schritt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4552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KI-Readiness-Assessment in 2 Wochen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Sie erhalten: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Shadow AI-Analyse: Welche Tools? Wo liegen Risiken?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Use Case-Priorisierung: Wo liegt das groesste ROI-Potenzial?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Compliance-Gap-Analyse: Wo stehen Sie beim EU AI Act?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Roadmap: Konkrete naechste Schritte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194560"/>
            <a:ext cx="4572000" cy="2560320"/>
          </a:xfrm>
          <a:prstGeom prst="rect">
            <a:avLst/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04088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27432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Assessment-Report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Executive Summary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Zeitrahmen: 2 Wochen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5394960"/>
            <a:ext cx="7616952" cy="64008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286000" y="539496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30-Minuten-Gespraech vereinbaren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markus@markusgoetz.com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Quellenverzeichnis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KI-Adoption &amp; Nutzung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Bitkom (2026): KI-Studie 2026 - 75% Wissensarbeiter-Nutzung, 41% Unternehmensadoption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Destatis (2025): Erhebung zur KI-Nutzung in Unternehmen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DIHK (2026): Digitalisierungsumfrage 2026 (5.000 Unternehmen)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Shadow AI &amp; Compliance-Risiken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Second Talent (2026): Shadow AI Statistics - 98% Organisationen betroffen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Netskope (2026): Cloud &amp; Threat Report - 223 Verstoesse/Monat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Gartner (2025): AI Governance Research - 69% verbotene Tool-Nutzung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Productiv (2026): SaaS Management Report - 14 Tools, IT kennt 4-5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ROI &amp; Produktivitaet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McKinsey (2026): Global AI Survey - 6,4h/Woche Zeitersparnis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Google Cloud (2025): ROI of AI Report - 171% durchschn. ROI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Salesforce (2026): State of Service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Slack (2026): Workforce Index Q1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Enterprise-Fallstudien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703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Klarna (Q3 2025): AI Agent Impact Report - $60 Mio. Ersparnis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4069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Intercom (2026): Customer Service Automation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Forrester (2025): Microsoft 365 Copilot TEI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Regulierung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5394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EU AI Act: Verordnung (EU) 2024/1689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5760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EU AI Act Service Desk: Implementation Timeline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6126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Kennedys Law (2026): AI Act Compliance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 Statistiken wurden im Research Brief (Juli 2026) validiert und mit Primaerquellen abgeglichen.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6E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Markus Goetz Interim Management | markus@markusgoetz.com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1491</Words>
  <Application>Microsoft Macintosh PowerPoint</Application>
  <PresentationFormat>Breitbild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Inter</vt:lpstr>
      <vt:lpstr>Aptos</vt:lpstr>
      <vt:lpstr>Arial</vt:lpstr>
      <vt:lpstr>Barlow</vt:lpstr>
      <vt:lpstr>Calibri</vt:lpstr>
      <vt:lpstr>Montserrat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 KI-Zugang zu KI-Wirkung</dc:title>
  <dc:subject>KI-Agenten Beratung und Implementierung</dc:subject>
  <dc:creator>Markus Goetz</dc:creator>
  <cp:lastModifiedBy>Markus Goetz</cp:lastModifiedBy>
  <cp:revision>5</cp:revision>
  <dcterms:created xsi:type="dcterms:W3CDTF">2026-07-06T16:02:00Z</dcterms:created>
  <dcterms:modified xsi:type="dcterms:W3CDTF">2026-07-21T08:21:08Z</dcterms:modified>
</cp:coreProperties>
</file>